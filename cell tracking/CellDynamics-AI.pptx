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39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23B-3641-F69E-EA53-BBB6B47E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29814-0911-6A3E-EE0C-1D2534208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3C1C6-C36A-9BD6-6F67-925BE6FC6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AE3C9-6F6B-5350-B8B1-9A93BE1FC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27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../Desktop/Coding/Language/Python/ML/ml_env/Work/cell%20tracking/outputs/logs/run_summary.csv" TargetMode="External"/><Relationship Id="rId3" Type="http://schemas.openxmlformats.org/officeDocument/2006/relationships/image" Target="../media/image19.svg"/><Relationship Id="rId7" Type="http://schemas.openxmlformats.org/officeDocument/2006/relationships/hyperlink" Target="../Desktop/Coding/Language/Python/ML/ml_env/Work/cell%20tracking/outputs/mask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1.png"/><Relationship Id="rId5" Type="http://schemas.openxmlformats.org/officeDocument/2006/relationships/hyperlink" Target="../Desktop/Coding/Language/Python/ML/ml_env/Work/cell%20tracking/outputs/tracks" TargetMode="External"/><Relationship Id="rId10" Type="http://schemas.openxmlformats.org/officeDocument/2006/relationships/hyperlink" Target="../Desktop/Coding/Language/Python/ML/ml_env/Work/cell%20tracking/outputs/visualizations" TargetMode="External"/><Relationship Id="rId4" Type="http://schemas.openxmlformats.org/officeDocument/2006/relationships/hyperlink" Target="../Desktop/Coding/Language/Python/ML/ml_env/Work/cell%20tracking/outputs/tracks/all_tracks.csv" TargetMode="External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62410"/>
            <a:ext cx="3738562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81174" y="1704901"/>
            <a:ext cx="402565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COMPUTER VISION · DEEP LEARNING · BIOMEDICAL IMAGING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855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CellDynamics AI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641104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Cell Segmentation, Multi-Object Tracking, and Temporal Cellular Analysis Platform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CBSE SKILL EXPO 2026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6C926AF-312F-AF0D-D5B3-EED5BB0B1EE6}"/>
              </a:ext>
            </a:extLst>
          </p:cNvPr>
          <p:cNvSpPr/>
          <p:nvPr/>
        </p:nvSpPr>
        <p:spPr>
          <a:xfrm>
            <a:off x="496119" y="3633416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2000" dirty="0"/>
              <a:t>PRESENTED BY </a:t>
            </a:r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2000" dirty="0"/>
              <a:t>VRUSHABH .S AND RITVIK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8111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Manual Analysis at Scale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Biologists manually analyze thousands of microscopy frames — a process that is slow, error-prone, and impossible to scale. Large datasets cannot be processed efficiently without automation.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2211065"/>
            <a:ext cx="3989412" cy="3967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1699" y="2291432"/>
            <a:ext cx="88597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Time Cost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4781699" y="2442344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of manual work per dataset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2643187"/>
            <a:ext cx="3989412" cy="3967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81699" y="2723555"/>
            <a:ext cx="88597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Error Rate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4781699" y="2874466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Subjective, inconsistent observations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3075310"/>
            <a:ext cx="3989412" cy="3967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81699" y="3155677"/>
            <a:ext cx="88597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Scale Gap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4781699" y="3306589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moving cells cannot be monitored simultaneously</a:t>
            </a:r>
            <a:endParaRPr lang="en-US" sz="5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C9AAFD-19B3-8033-102F-EA110B1B8B3D}"/>
              </a:ext>
            </a:extLst>
          </p:cNvPr>
          <p:cNvSpPr/>
          <p:nvPr/>
        </p:nvSpPr>
        <p:spPr>
          <a:xfrm>
            <a:off x="7887694" y="4754599"/>
            <a:ext cx="1256306" cy="37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3451"/>
            <a:ext cx="409991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Cell Tracking Matters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951384"/>
            <a:ext cx="5179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tracking is foundational to breakthroughs across biomedical research and medicine.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14958"/>
            <a:ext cx="225921" cy="225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5533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Cancer Research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6119" y="1783854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migration and metastasis patterns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26233"/>
            <a:ext cx="225921" cy="2259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46466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Drug Discovery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96119" y="2695129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cellular response to compounds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37508"/>
            <a:ext cx="225921" cy="2259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375943"/>
            <a:ext cx="239940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Stem Cell &amp; Regenerative Medicine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96119" y="3606403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lineage and differentiation pathways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48782"/>
            <a:ext cx="225921" cy="2259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28721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Pathology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96119" y="4517678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Objective, reproducible quantitative measurements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852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22028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CellDynamics AI delivers a fully automated, end-to-end pipeline — from raw microscopy frames to quantitative biological insights.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804318"/>
            <a:ext cx="2628602" cy="1339676"/>
          </a:xfrm>
          <a:prstGeom prst="roundRect">
            <a:avLst>
              <a:gd name="adj" fmla="val 430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8175" y="1946374"/>
            <a:ext cx="411956" cy="41195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433" y="2059632"/>
            <a:ext cx="185365" cy="185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8175" y="24913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8175" y="2785616"/>
            <a:ext cx="234448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every cell automatically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7699" y="1804318"/>
            <a:ext cx="2628602" cy="1339676"/>
          </a:xfrm>
          <a:prstGeom prst="roundRect">
            <a:avLst>
              <a:gd name="adj" fmla="val 430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99755" y="1946374"/>
            <a:ext cx="411956" cy="41195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3013" y="2059632"/>
            <a:ext cx="185365" cy="1853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9755" y="24913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99755" y="2785616"/>
            <a:ext cx="234448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pixel-level cell boundaries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19279" y="1804318"/>
            <a:ext cx="2628602" cy="1339676"/>
          </a:xfrm>
          <a:prstGeom prst="roundRect">
            <a:avLst>
              <a:gd name="adj" fmla="val 430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61336" y="1946374"/>
            <a:ext cx="411956" cy="41195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4594" y="2059632"/>
            <a:ext cx="185365" cy="1853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1336" y="24913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1336" y="2785616"/>
            <a:ext cx="234448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unique IDs across all frames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6119" y="3276972"/>
            <a:ext cx="4009355" cy="1339676"/>
          </a:xfrm>
          <a:prstGeom prst="roundRect">
            <a:avLst>
              <a:gd name="adj" fmla="val 430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38175" y="3419029"/>
            <a:ext cx="411956" cy="41195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433" y="3532287"/>
            <a:ext cx="185365" cy="1853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8175" y="396396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Lineage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8175" y="4258270"/>
            <a:ext cx="372524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parent-child relationships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38452" y="3276972"/>
            <a:ext cx="4009430" cy="1339676"/>
          </a:xfrm>
          <a:prstGeom prst="roundRect">
            <a:avLst>
              <a:gd name="adj" fmla="val 430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780508" y="3419029"/>
            <a:ext cx="411956" cy="41195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3766" y="3532287"/>
            <a:ext cx="185365" cy="1853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0508" y="396396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80508" y="4258270"/>
            <a:ext cx="372531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CSV outputs automatically</a:t>
            </a:r>
            <a:endParaRPr lang="en-US" sz="10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57696C-754D-1629-027B-C02ACC9C8EFB}"/>
              </a:ext>
            </a:extLst>
          </p:cNvPr>
          <p:cNvSpPr/>
          <p:nvPr/>
        </p:nvSpPr>
        <p:spPr>
          <a:xfrm>
            <a:off x="7877672" y="4696419"/>
            <a:ext cx="1256306" cy="37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2732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unified, modular pipeline transforms raw microscopy sequences into research-ready quantitative outputs — fully automated at every stage.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7021"/>
            <a:ext cx="7315200" cy="4114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05A34B-34F5-C168-82A5-6D36A68F5F9B}"/>
              </a:ext>
            </a:extLst>
          </p:cNvPr>
          <p:cNvSpPr/>
          <p:nvPr/>
        </p:nvSpPr>
        <p:spPr>
          <a:xfrm>
            <a:off x="7879602" y="4778875"/>
            <a:ext cx="1256306" cy="37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072"/>
            <a:ext cx="340697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Preprocessing Pipeline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40346"/>
            <a:ext cx="5236220" cy="2967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5397" y="1939230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Supported Datasets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915397" y="2091110"/>
            <a:ext cx="273717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HeLa · Pancreas · HSC · MUSC — each containing hundreds of PNG frames in continuous time series. Every folder is auto-scanned with metadata validated, frame continuity checked, and missing frames detected automatically.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915397" y="2394421"/>
            <a:ext cx="1380976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 Steps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3792215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96119" y="3906813"/>
            <a:ext cx="4057055" cy="952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6119" y="3962400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 Loading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4099173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 header verification and continuity check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590827" y="3792215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590827" y="3906813"/>
            <a:ext cx="4057055" cy="952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90827" y="3962400"/>
            <a:ext cx="1039788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Intensity Normalization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590827" y="4099173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Percentile clipping and contrast enhancement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96119" y="4280148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4394746"/>
            <a:ext cx="4057055" cy="952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6119" y="4450333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Noise Reduction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6119" y="4587106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Gaussian blur and background subtraction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590827" y="4280148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4590827" y="4394746"/>
            <a:ext cx="4057055" cy="952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90827" y="4450333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Output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90827" y="4587106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Normalized, clean image ready for segmentation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783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Segmentation: Dual-Mode Intelligence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CellDynamics AI uses a </a:t>
            </a: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 primary</a:t>
            </a: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(U-Net) with an </a:t>
            </a: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classical CV fallback</a:t>
            </a: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ensuring robustness even without trained models.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354387"/>
            <a:ext cx="13690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Classical CV Pipeline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63232" y="2504926"/>
            <a:ext cx="1976958" cy="391939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743599" y="258529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Otsu Threshold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743599" y="2731443"/>
            <a:ext cx="18162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binary separation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6675611" y="2504926"/>
            <a:ext cx="1977033" cy="391939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755978" y="258529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Morphological Ops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755978" y="2731443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and closing for noise removal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663232" y="2932286"/>
            <a:ext cx="1976958" cy="391939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43599" y="301265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Watershed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743599" y="3158803"/>
            <a:ext cx="18162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touching and overlapping cells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6675611" y="2932286"/>
            <a:ext cx="1977033" cy="391939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9525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55978" y="3012653"/>
            <a:ext cx="10512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Connected Components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755978" y="3158803"/>
            <a:ext cx="18162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each cell as a unique object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7463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U-Net Architecture &amp; Training Pipeline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336533"/>
            <a:ext cx="1210397" cy="22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Bottleneck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41329" y="3619689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Deepest feature representation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11608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Skip Connections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49316" y="3619689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encoder and decoder levels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999878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193" y="1283034"/>
            <a:ext cx="1210397" cy="39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 blocks + max pooling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999878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3279" y="1283034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Sigmoid for binary mask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999878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Decoder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14612" y="1283034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Transpose conv upsampling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CCCE-0F58-6A7B-E1E9-79293A8E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0F4579D-AC4E-2FBB-FA21-F331CB0FB332}"/>
              </a:ext>
            </a:extLst>
          </p:cNvPr>
          <p:cNvSpPr/>
          <p:nvPr/>
        </p:nvSpPr>
        <p:spPr>
          <a:xfrm>
            <a:off x="496119" y="463451"/>
            <a:ext cx="409991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Progress of Projects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2772291-362A-5B03-4A47-74238DE94E72}"/>
              </a:ext>
            </a:extLst>
          </p:cNvPr>
          <p:cNvSpPr/>
          <p:nvPr/>
        </p:nvSpPr>
        <p:spPr>
          <a:xfrm>
            <a:off x="496119" y="951384"/>
            <a:ext cx="5179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/>
              <a:t>The project has made many claims so far about its use and results but here are the raw results</a:t>
            </a:r>
          </a:p>
        </p:txBody>
      </p:sp>
      <p:pic>
        <p:nvPicPr>
          <p:cNvPr id="5" name="Image 1" descr="Document with solid fill">
            <a:extLst>
              <a:ext uri="{FF2B5EF4-FFF2-40B4-BE49-F238E27FC236}">
                <a16:creationId xmlns:a16="http://schemas.microsoft.com/office/drawing/2014/main" id="{DB916C86-60FC-4B62-D241-C54A3DEA2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6119" y="1214958"/>
            <a:ext cx="225921" cy="225921"/>
          </a:xfrm>
          <a:prstGeom prst="rect">
            <a:avLst/>
          </a:prstGeom>
        </p:spPr>
      </p:pic>
      <p:sp>
        <p:nvSpPr>
          <p:cNvPr id="6" name="Text 2">
            <a:hlinkClick r:id="rId4" action="ppaction://hlinkfile"/>
            <a:extLst>
              <a:ext uri="{FF2B5EF4-FFF2-40B4-BE49-F238E27FC236}">
                <a16:creationId xmlns:a16="http://schemas.microsoft.com/office/drawing/2014/main" id="{498FEFCD-2E30-FFFF-43EE-34333F9F28C0}"/>
              </a:ext>
            </a:extLst>
          </p:cNvPr>
          <p:cNvSpPr/>
          <p:nvPr/>
        </p:nvSpPr>
        <p:spPr>
          <a:xfrm>
            <a:off x="496119" y="15533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Textual Output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2B7983-0E47-0A5A-74C5-779D35737F8B}"/>
              </a:ext>
            </a:extLst>
          </p:cNvPr>
          <p:cNvSpPr/>
          <p:nvPr/>
        </p:nvSpPr>
        <p:spPr>
          <a:xfrm>
            <a:off x="496119" y="1783854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hlinkClick r:id="rId5" action="ppaction://hlinkfile"/>
              </a:rPr>
              <a:t>Click here for seeing the data</a:t>
            </a:r>
            <a:endParaRPr lang="en-US" sz="850" dirty="0"/>
          </a:p>
        </p:txBody>
      </p:sp>
      <p:pic>
        <p:nvPicPr>
          <p:cNvPr id="8" name="Image 2" descr="Camera with solid fill">
            <a:extLst>
              <a:ext uri="{FF2B5EF4-FFF2-40B4-BE49-F238E27FC236}">
                <a16:creationId xmlns:a16="http://schemas.microsoft.com/office/drawing/2014/main" id="{5B831AD2-2305-411F-08C7-DCCBE8A0D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119" y="2126233"/>
            <a:ext cx="225921" cy="225921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0B68A0D-8F7A-6115-DE9E-3C1F3593B728}"/>
              </a:ext>
            </a:extLst>
          </p:cNvPr>
          <p:cNvSpPr/>
          <p:nvPr/>
        </p:nvSpPr>
        <p:spPr>
          <a:xfrm>
            <a:off x="496119" y="246466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Image Output</a:t>
            </a:r>
            <a:endParaRPr lang="en-US" sz="11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7E09C70-313A-938C-F9E1-58AE502E8D9F}"/>
              </a:ext>
            </a:extLst>
          </p:cNvPr>
          <p:cNvSpPr/>
          <p:nvPr/>
        </p:nvSpPr>
        <p:spPr>
          <a:xfrm>
            <a:off x="496119" y="2695130"/>
            <a:ext cx="4722763" cy="17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hlinkClick r:id="rId7" action="ppaction://hlinkfile"/>
              </a:rPr>
              <a:t>Click here to see the image output</a:t>
            </a:r>
            <a:endParaRPr lang="en-US" sz="850" dirty="0"/>
          </a:p>
        </p:txBody>
      </p:sp>
      <p:pic>
        <p:nvPicPr>
          <p:cNvPr id="11" name="Image 3" descr="Document with solid fill">
            <a:extLst>
              <a:ext uri="{FF2B5EF4-FFF2-40B4-BE49-F238E27FC236}">
                <a16:creationId xmlns:a16="http://schemas.microsoft.com/office/drawing/2014/main" id="{B90F85DA-9C4A-3BB2-7294-CDD65BF4C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6119" y="3037508"/>
            <a:ext cx="225921" cy="225921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81202C1E-999B-CBCA-58B6-23EB86ECFF0A}"/>
              </a:ext>
            </a:extLst>
          </p:cNvPr>
          <p:cNvSpPr/>
          <p:nvPr/>
        </p:nvSpPr>
        <p:spPr>
          <a:xfrm>
            <a:off x="496119" y="3375943"/>
            <a:ext cx="239940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latin typeface="Inter Bold" panose="020B0604020202020204" charset="0"/>
                <a:ea typeface="Inter Bold" panose="020B0604020202020204" charset="0"/>
              </a:rPr>
              <a:t>Textual Output Summary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D9BB7AA-20BA-4493-D571-D98AA9A0E73E}"/>
              </a:ext>
            </a:extLst>
          </p:cNvPr>
          <p:cNvSpPr/>
          <p:nvPr/>
        </p:nvSpPr>
        <p:spPr>
          <a:xfrm>
            <a:off x="496119" y="3606403"/>
            <a:ext cx="472276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hlinkClick r:id="rId8" action="ppaction://hlinkfile"/>
              </a:rPr>
              <a:t>Click here to see the run summary</a:t>
            </a:r>
            <a:endParaRPr lang="en-US" sz="85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8D45B8E8-3BA1-DBC6-08F8-98765B734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48782"/>
            <a:ext cx="225921" cy="22592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FFE52B84-C966-4755-C627-F42429C61631}"/>
              </a:ext>
            </a:extLst>
          </p:cNvPr>
          <p:cNvSpPr/>
          <p:nvPr/>
        </p:nvSpPr>
        <p:spPr>
          <a:xfrm>
            <a:off x="496119" y="428721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Visualization</a:t>
            </a:r>
            <a:endParaRPr lang="en-US" sz="11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BC714E9-BAD5-8801-4569-AD7B9616F8B6}"/>
              </a:ext>
            </a:extLst>
          </p:cNvPr>
          <p:cNvSpPr/>
          <p:nvPr/>
        </p:nvSpPr>
        <p:spPr>
          <a:xfrm>
            <a:off x="496119" y="4517678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hlinkClick r:id="rId10" action="ppaction://hlinkfile"/>
              </a:rPr>
              <a:t>Click here to see the visual memory</a:t>
            </a:r>
            <a:endParaRPr lang="en-US" sz="8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980405-A660-28CE-7EF7-D58730C16B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5850" y="0"/>
            <a:ext cx="4248150" cy="451767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1AA899C-B714-A3D9-AF87-F2742E6F6CA6}"/>
              </a:ext>
            </a:extLst>
          </p:cNvPr>
          <p:cNvSpPr txBox="1"/>
          <p:nvPr/>
        </p:nvSpPr>
        <p:spPr>
          <a:xfrm>
            <a:off x="5375274" y="4552831"/>
            <a:ext cx="310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Up: Real image of our programs last run, marking each cell with a cell id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29473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9836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&amp; Lineage Detection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tracking-by-detection</a:t>
            </a: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approach assigns unique IDs across frames using a multi-parameter cost function and the Hungarian algorithm. When a cell disappears, lineage logic detects parent-child division events.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80" y="807021"/>
            <a:ext cx="7418040" cy="3929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0033" y="3615112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Cells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59608" y="3909588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cells and create feature vectors.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72694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 Cost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42269" y="1652619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distance, IoU, area, intensity.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44122" y="1358144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 IDs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44122" y="1652619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Hungarian algorithm for optimal matches.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37006" y="361524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Parent Detection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37006" y="3909715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nearby cells to assign lineage.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93080"/>
            <a:ext cx="5092154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Outputs, Applications &amp; What's Next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96119" y="1033090"/>
            <a:ext cx="4722763" cy="570681"/>
          </a:xfrm>
          <a:prstGeom prst="roundRect">
            <a:avLst>
              <a:gd name="adj" fmla="val 76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04986" y="114195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Outputs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4986" y="1350466"/>
            <a:ext cx="450502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masks, overlay images, tracking CSV, summary reports, logs, and checkpoints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1680195"/>
            <a:ext cx="4722763" cy="715119"/>
          </a:xfrm>
          <a:prstGeom prst="roundRect">
            <a:avLst>
              <a:gd name="adj" fmla="val 611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04986" y="1789063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Applications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4986" y="1997571"/>
            <a:ext cx="450502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Cancer research, drug discovery, stem cell lineage, digital pathology, regenerative medicine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2471738"/>
            <a:ext cx="4722763" cy="715119"/>
          </a:xfrm>
          <a:prstGeom prst="roundRect">
            <a:avLst>
              <a:gd name="adj" fmla="val 611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4986" y="258060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Limitations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4986" y="2789113"/>
            <a:ext cx="450502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labeled masks for training; CPU slower than GPU; dense overlap remains challenging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3263280"/>
            <a:ext cx="4722763" cy="715119"/>
          </a:xfrm>
          <a:prstGeom prst="roundRect">
            <a:avLst>
              <a:gd name="adj" fmla="val 611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4986" y="337214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Future Scope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4986" y="3580656"/>
            <a:ext cx="450502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Transformers, Segment Anything Model, 3D tracking, cloud dashboards, real-time analysis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96119" y="4064347"/>
            <a:ext cx="4722763" cy="485998"/>
          </a:xfrm>
          <a:prstGeom prst="roundRect">
            <a:avLst>
              <a:gd name="adj" fmla="val 899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4" y="4203278"/>
            <a:ext cx="130076" cy="1041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4405" y="4166741"/>
            <a:ext cx="428037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Technologies: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· PyTorch · NumPy · SciPy · Pandas · scikit-image · Hungarian Algorithm · U-Net · Watershed · Otsu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641</Words>
  <Application>Microsoft Office PowerPoint</Application>
  <PresentationFormat>On-screen Show (16:9)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 Bold</vt:lpstr>
      <vt:lpstr>Twemoji Mozilla</vt:lpstr>
      <vt:lpstr>Inter Light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Sunayana Sonawane</cp:lastModifiedBy>
  <cp:revision>3</cp:revision>
  <dcterms:created xsi:type="dcterms:W3CDTF">2026-07-05T10:58:03Z</dcterms:created>
  <dcterms:modified xsi:type="dcterms:W3CDTF">2026-07-07T09:44:51Z</dcterms:modified>
</cp:coreProperties>
</file>